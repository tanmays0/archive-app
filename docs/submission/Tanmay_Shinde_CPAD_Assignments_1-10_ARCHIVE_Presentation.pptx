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5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2EEE6"/>
                </a:solidFill>
                <a:latin typeface="Calibri"/>
              </a:rPr>
              <a:t>ARCHIVE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A9522F"/>
                </a:solidFill>
                <a:latin typeface="Calibri"/>
              </a:rPr>
              <a:t>Curated vintage marketplace for Android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C9C0B4"/>
                </a:solidFill>
                <a:latin typeface="Calibri"/>
              </a:rPr>
              <a:t>Expo SDK 58 · React Native · TypeScript · INR storefront</a:t>
            </a:r>
          </a:p>
          <a:p>
            <a:pPr>
              <a:spcBef>
                <a:spcPts val="2200"/>
              </a:spcBef>
            </a:pPr>
            <a:r>
              <a:rPr sz="1400" b="0">
                <a:solidFill>
                  <a:srgbClr val="C9C0B4"/>
                </a:solidFill>
                <a:latin typeface="Calibri"/>
              </a:rPr>
              <a:t>Tanmay Shinde  ·  ADT23SOCB1617  ·  Roll 12 / LY-SMAD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7C7565"/>
                </a:solidFill>
                <a:latin typeface="Calibri"/>
              </a:rPr>
              <a:t>Cross Platform App Development (CPAD)  ·  Prof. Rohini Bhosale  ·  AY 2026–27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7C7565"/>
                </a:solidFill>
                <a:latin typeface="Calibri"/>
              </a:rPr>
              <a:t>MIT ART, DESIGN AND TECHNOLOGY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Product story first — then architecture, shopping flows, screenshots, CPAD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81510"/>
                </a:solidFill>
                <a:latin typeface="Calibri"/>
              </a:rPr>
              <a:t>•  What is ARCHIVE — brand &amp; problem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Tech stack &amp; architecture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E-commerce features end-to-end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UI screenshots gallery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Navigation, data &amp; state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CPAD Assignments 1–10 coverage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Demo path &amp; closing</a:t>
            </a:r>
          </a:p>
        </p:txBody>
      </p:sp>
      <p:pic>
        <p:nvPicPr>
          <p:cNvPr id="6" name="Picture 5" descr="02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What is ARCHIVE?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Independent marketplace for authenticated vintage &amp; pre-loved fashion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0350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181510"/>
                </a:solidFill>
                <a:latin typeface="Calibri"/>
              </a:rPr>
              <a:t>•  Fewer, better things — one-of-one pieces, graded honestly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Authenticated badge after multi-point inspection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Editorial catalogue: sportswear, workwear, outerwear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Full shop flow: browse → detail → cart → checkout → orders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Companion to the ARCHIVE web brand (tanmays0/ARCHIVE)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Built as one Android app covering all CPAD requirements</a:t>
            </a:r>
          </a:p>
        </p:txBody>
      </p:sp>
      <p:pic>
        <p:nvPicPr>
          <p:cNvPr id="6" name="Picture 5" descr="09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Brand &amp; design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Bone · Ink · Clay palette — Fraunces display + DM Sans body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65836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2926080"/>
              </a:tblGrid>
              <a:tr h="6400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Hex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Bone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#F2EEE6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Primary background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Ink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#181510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Text &amp; inverse surfaces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Clay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#A9522F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Accent / CTAs / price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Olive / Denim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#6B6A54 / #4C5B66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Secondary accents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Stone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#C9C0B4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Borders &amp; muted chrome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79" y="1463040"/>
            <a:ext cx="41148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81510"/>
                </a:solidFill>
                <a:latin typeface="Calibri"/>
              </a:rPr>
              <a:t>•  Scroll-driven home hero (Reanimated)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Product cards with authenticity badge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Compact footer links — no button clutter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Settings-style Profile navigation list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Tech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Modern Expo toolchain targeting Pixel_9 Android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503920"/>
              </a:tblGrid>
              <a:tr h="44888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Runtime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Expo SDK 58 / React Native 0.88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TypeScript (strict)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Navigation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React Navigation — native stack + bottom tabs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Context + useReducer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Persistence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AsyncStorage (cart, profile, orders)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Images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expo-image (+ safe URI encoding)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Motion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react-native-reanimated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Fonts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Fraunces + DM Sans (@expo-google-fonts)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Local products.json (26 SKUs, INR) + FakeStore API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Tooling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ESLint, Prettier, tsc --noEmit, Expo Doctor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Clear src/ boundaries — screens, UI kit, context, data,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658368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81510"/>
                </a:solidFill>
                <a:latin typeface="Calibri"/>
              </a:rPr>
              <a:t>•  App.tsx — providers (Cart, Wishlist, Profile, Orders) + RootNavigator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src/screens/ — feature screens (Home, Catalogue, Cart, Checkout…)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src/components/ui + product/ — reusable ProductCard, Button, Badge…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src/context/ — cart / wishlist / profile / orders reducers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src/navigation/ — typed RootStackParamList + MainTabs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src/data/ — products.json, collections.json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src/services/api.ts — public API fetch for Discover more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docs/ — academic write-ups, viva notes, this submission pack</a:t>
            </a:r>
          </a:p>
        </p:txBody>
      </p:sp>
      <p:pic>
        <p:nvPicPr>
          <p:cNvPr id="6" name="Picture 5" descr="11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E-commerce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Premium storefront + complete shopping path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869680"/>
              </a:tblGrid>
              <a:tr h="448887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What ships in ARCHIVE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Discover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Home hero, collections, new arrivals, sale, wishlist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Catalogue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Search, category chips, sort, FlatList grid (INR)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PDP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Gallery, sizes, condition, authenticity, add to cart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Cart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Qty stepper, remove alerts, subtotal, AsyncStorage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Checkout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Validated form, gift wrap, order confirmation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Account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Login / Register · Profile · orders · notifications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Auth gate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Cart without login · Checkout requires session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About, authenticity lab, FAQ, shipping, returns, legal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Consign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Seller consign flow + size guide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Partner feed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Live FakeStore API — Discover more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Shopping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Happy path from boot to order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181510"/>
                </a:solidFill>
                <a:latin typeface="Calibri"/>
              </a:rPr>
              <a:t>•  Hello ARCHIVE → Enter the Archive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Home → Shop the Archive / New / Sale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Catalogue → open Product Details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Select size → Add to cart (popup + View cart)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Cart → Sign in / Create account (required to order)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Checkout → validate → Place order → Confirmation</a:t>
            </a:r>
          </a:p>
        </p:txBody>
      </p:sp>
      <p:pic>
        <p:nvPicPr>
          <p:cNvPr id="6" name="Picture 5" descr="04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Catalogue &amp; pricing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26 authenticated pieces · prices in Indian Rupees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85216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181510"/>
                </a:solidFill>
                <a:latin typeface="Calibri"/>
              </a:rPr>
              <a:t>•  Local JSON catalogue (not mock lorem ipsum)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Categories: Men, Women, Kids, Accessories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Condition grades: Like New → Fair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Collections: City Uniform, Air Index, Hardwood…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formatPrice() with en-IN locale (₹)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Compare-at prices for sale badges</a:t>
            </a:r>
          </a:p>
        </p:txBody>
      </p:sp>
      <p:pic>
        <p:nvPicPr>
          <p:cNvPr id="6" name="Picture 5" descr="03_catalo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Cart, checkout &amp; orders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Validated commerce with persistent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029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81510"/>
                </a:solidFill>
                <a:latin typeface="Calibri"/>
              </a:rPr>
              <a:t>•  CartContext + useReducer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QuantityStepper per line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Subtotal updates live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Persisted with AsyncStorage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Empty state → Shop CTA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54480"/>
            <a:ext cx="54864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81510"/>
                </a:solidFill>
                <a:latin typeface="Calibri"/>
              </a:rPr>
              <a:t>•  Checkout TextInputs + Switches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Email / required-field Alerts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Gift wrap option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Order id + confirmation screen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Orders history in Profile</a:t>
            </a:r>
          </a:p>
        </p:txBody>
      </p:sp>
      <p:pic>
        <p:nvPicPr>
          <p:cNvPr id="7" name="Picture 6" descr="05_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4206240"/>
            <a:ext cx="1140833" cy="2468880"/>
          </a:xfrm>
          <a:prstGeom prst="rect">
            <a:avLst/>
          </a:prstGeom>
        </p:spPr>
      </p:pic>
      <p:pic>
        <p:nvPicPr>
          <p:cNvPr id="8" name="Picture 7" descr="06_che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4206240"/>
            <a:ext cx="1140833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Sign in &amp; create account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Browse freely · cart without login · checkout requires an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81510"/>
                </a:solidFill>
                <a:latin typeface="Calibri"/>
              </a:rPr>
              <a:t>•  AuthContext stores accounts + session in AsyncStorage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Create account: name, email, phone, password (min 6)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Sign in unlocks Checkout and a real Profile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Guest Profile shows Sign in / Create account CTAs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In-app popups for welcome, errors, and order placed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Cart remains saved across the auth redirect</a:t>
            </a:r>
          </a:p>
        </p:txBody>
      </p:sp>
      <p:pic>
        <p:nvPicPr>
          <p:cNvPr id="6" name="Picture 5" descr="12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34440"/>
            <a:ext cx="2408426" cy="5212080"/>
          </a:xfrm>
          <a:prstGeom prst="rect">
            <a:avLst/>
          </a:prstGeom>
        </p:spPr>
      </p:pic>
      <p:pic>
        <p:nvPicPr>
          <p:cNvPr id="7" name="Picture 6" descr="13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1234440"/>
            <a:ext cx="2408426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Profile, trust &amp; content pages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Account hub + storefront credibility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181510"/>
                </a:solidFill>
                <a:latin typeface="Calibri"/>
              </a:rPr>
              <a:t>•  Logged-in profile: View, Text, Image, TextInput, Button, Switch, ScrollView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Nav groups: Account · Shop · Help &amp; legal · The house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About, Authenticity &amp; Services, FAQ, Shipping, Returns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Privacy, Terms, Consign, Size guide, Notifications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How we build — platform comparative study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181510"/>
                </a:solidFill>
                <a:latin typeface="Calibri"/>
              </a:rPr>
              <a:t>•  Discover more — partner API feed</a:t>
            </a:r>
          </a:p>
        </p:txBody>
      </p:sp>
      <p:pic>
        <p:nvPicPr>
          <p:cNvPr id="6" name="Picture 5" descr="07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Navigation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Stack for flows · tabs for storefront chrome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181510"/>
                </a:solidFill>
                <a:latin typeface="Calibri"/>
              </a:rPr>
              <a:t>•  Bottom tabs: Home · Shop · Cart · Profile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Stack screens: Product, Checkout, About, Discover…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Typed params (productId, orderId, collectionId)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Nested navigate MainTabs → CatalogueTab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Cart badge shows live item count</a:t>
            </a:r>
          </a:p>
        </p:txBody>
      </p:sp>
      <p:pic>
        <p:nvPicPr>
          <p:cNvPr id="6" name="Picture 5" descr="11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Data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Local catalogue + live public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943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181510"/>
                </a:solidFill>
                <a:latin typeface="Calibri"/>
              </a:rPr>
              <a:t>•  products.json — 26 ARCHIVE SKUs with images &amp; INR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collections.json — featured editorial racks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FakeStore API — Discover more partner feed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Loading / error / retry / pull-to-refresh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Image URIs hardened for Android (+ encoding)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Orders &amp; profile saved locally on device</a:t>
            </a:r>
          </a:p>
        </p:txBody>
      </p:sp>
      <p:pic>
        <p:nvPicPr>
          <p:cNvPr id="6" name="Picture 5" descr="08_dis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18872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UI gallery — browse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Boot · Home · Catalogue · Product</a:t>
            </a:r>
          </a:p>
        </p:txBody>
      </p:sp>
      <p:pic>
        <p:nvPicPr>
          <p:cNvPr id="5" name="Picture 4" descr="01_h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2366173" cy="5120640"/>
          </a:xfrm>
          <a:prstGeom prst="rect">
            <a:avLst/>
          </a:prstGeom>
        </p:spPr>
      </p:pic>
      <p:pic>
        <p:nvPicPr>
          <p:cNvPr id="6" name="Picture 5" descr="02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325880"/>
            <a:ext cx="2366173" cy="5120640"/>
          </a:xfrm>
          <a:prstGeom prst="rect">
            <a:avLst/>
          </a:prstGeom>
        </p:spPr>
      </p:pic>
      <p:pic>
        <p:nvPicPr>
          <p:cNvPr id="7" name="Picture 6" descr="03_catalog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2366173" cy="5120640"/>
          </a:xfrm>
          <a:prstGeom prst="rect">
            <a:avLst/>
          </a:prstGeom>
        </p:spPr>
      </p:pic>
      <p:pic>
        <p:nvPicPr>
          <p:cNvPr id="8" name="Picture 7" descr="04_produ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132588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UI gallery — commerce &amp; account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Cart · Checkout · Profile · Discover</a:t>
            </a:r>
          </a:p>
        </p:txBody>
      </p:sp>
      <p:pic>
        <p:nvPicPr>
          <p:cNvPr id="5" name="Picture 4" descr="05_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2366173" cy="5120640"/>
          </a:xfrm>
          <a:prstGeom prst="rect">
            <a:avLst/>
          </a:prstGeom>
        </p:spPr>
      </p:pic>
      <p:pic>
        <p:nvPicPr>
          <p:cNvPr id="6" name="Picture 5" descr="06_check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325880"/>
            <a:ext cx="2366173" cy="5120640"/>
          </a:xfrm>
          <a:prstGeom prst="rect">
            <a:avLst/>
          </a:prstGeom>
        </p:spPr>
      </p:pic>
      <p:pic>
        <p:nvPicPr>
          <p:cNvPr id="7" name="Picture 6" descr="07_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325880"/>
            <a:ext cx="2366173" cy="5120640"/>
          </a:xfrm>
          <a:prstGeom prst="rect">
            <a:avLst/>
          </a:prstGeom>
        </p:spPr>
      </p:pic>
      <p:pic>
        <p:nvPicPr>
          <p:cNvPr id="8" name="Picture 7" descr="08_disc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0" y="132588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UI gallery — brand &amp;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About · How we build · Tabs</a:t>
            </a:r>
          </a:p>
        </p:txBody>
      </p:sp>
      <p:pic>
        <p:nvPicPr>
          <p:cNvPr id="5" name="Picture 4" descr="09_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25880"/>
            <a:ext cx="2366173" cy="5120640"/>
          </a:xfrm>
          <a:prstGeom prst="rect">
            <a:avLst/>
          </a:prstGeom>
        </p:spPr>
      </p:pic>
      <p:pic>
        <p:nvPicPr>
          <p:cNvPr id="6" name="Picture 5" descr="10_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325880"/>
            <a:ext cx="2366173" cy="5120640"/>
          </a:xfrm>
          <a:prstGeom prst="rect">
            <a:avLst/>
          </a:prstGeom>
        </p:spPr>
      </p:pic>
      <p:pic>
        <p:nvPicPr>
          <p:cNvPr id="7" name="Picture 6" descr="11_tab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2588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Why React Native + Expo?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Assignment 2 verdict applied to a real storefront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13816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Fit for ARCHIVE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Native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Best performance — but two apps (Kotlin + Swift)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Hybrid / WebView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Fast web reuse — weaker lists, gestures, offline cart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React Native + Expo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Shared TS, FlatList, native nav, Pixel_9 demo workflow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66344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0">
                <a:solidFill>
                  <a:srgbClr val="181510"/>
                </a:solidFill>
                <a:latin typeface="Calibri"/>
              </a:rPr>
              <a:t>•  Curriculum concepts map 1:1 onto product screens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Metro Fast Refresh for rapid UI iteration</a:t>
            </a:r>
          </a:p>
          <a:p>
            <a:pPr>
              <a:spcBef>
                <a:spcPts val="1200"/>
              </a:spcBef>
            </a:pPr>
            <a:r>
              <a:rPr sz="1500" b="0">
                <a:solidFill>
                  <a:srgbClr val="181510"/>
                </a:solidFill>
                <a:latin typeface="Calibri"/>
              </a:rPr>
              <a:t>•  EAS / expo run:android — no separate Xcode for this course demo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5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2EEE6"/>
                </a:solidFill>
                <a:latin typeface="Calibri"/>
              </a:rPr>
              <a:t>CPAD coverage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A9522F"/>
                </a:solidFill>
                <a:latin typeface="Calibri"/>
              </a:rPr>
              <a:t>How the same ARCHIVE app satisfies Assignments 1–10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Assignments 1–10 — mapped to ARCHIVE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2588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772400"/>
              </a:tblGrid>
              <a:tr h="4655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2EEE6"/>
                          </a:solidFill>
                          <a:latin typeface="Calibri"/>
                        </a:rPr>
                        <a:t>Evidence in app</a:t>
                      </a:r>
                    </a:p>
                  </a:txBody>
                  <a:tcPr>
                    <a:solidFill>
                      <a:srgbClr val="181510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Setup / Hello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HelloArchiveScreen · Expo · Pixel_9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Comparative study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How we build + docs write-up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Props / useState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ProductCard, steppers, wishlist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Structure / reuse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src/ tree + shared UI kit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Profile cores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CustomerProfileScreen components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Flexbox / events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Login/Register + Checkout Alerts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Multi-screen nav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Stack + bottom tabs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Dynamic data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JSON FlatList + FakeStore API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  <a:tr h="46551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Storefront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Home / About / Auth pages / Catalogue</a:t>
                      </a:r>
                    </a:p>
                  </a:txBody>
                  <a:tcPr>
                    <a:solidFill>
                      <a:srgbClr val="F2EEE6"/>
                    </a:solidFill>
                  </a:tcPr>
                </a:tc>
              </a:tr>
              <a:tr h="4655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Shopping app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81510"/>
                          </a:solidFill>
                          <a:latin typeface="Calibri"/>
                        </a:rPr>
                        <a:t>Auth-gated checkout + orders</a:t>
                      </a:r>
                    </a:p>
                  </a:txBody>
                  <a:tcPr>
                    <a:solidFill>
                      <a:srgbClr val="F6F2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Assignment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Concept → product surface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2194560" cy="4846320"/>
          </a:xfrm>
          <a:prstGeom prst="roundRect">
            <a:avLst/>
          </a:prstGeom>
          <a:solidFill>
            <a:srgbClr val="F6F2EA"/>
          </a:solidFill>
          <a:ln>
            <a:solidFill>
              <a:srgbClr val="C9C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55448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9522F"/>
                </a:solidFill>
                <a:latin typeface="Calibri"/>
              </a:rPr>
              <a:t>A1–A2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0116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181510"/>
                </a:solidFill>
                <a:latin typeface="Calibri"/>
              </a:rPr>
              <a:t>•  Expo boot + Hello ARCHIVE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Native / Hybrid / RN comparison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How we build screen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Pixel_9 Android target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79" y="1417320"/>
            <a:ext cx="2194560" cy="4846320"/>
          </a:xfrm>
          <a:prstGeom prst="roundRect">
            <a:avLst/>
          </a:prstGeom>
          <a:solidFill>
            <a:srgbClr val="F6F2EA"/>
          </a:solidFill>
          <a:ln>
            <a:solidFill>
              <a:srgbClr val="C9C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7" y="155448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9522F"/>
                </a:solidFill>
                <a:latin typeface="Calibri"/>
              </a:rPr>
              <a:t>A3–A4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19" y="2011680"/>
            <a:ext cx="20116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181510"/>
                </a:solidFill>
                <a:latin typeface="Calibri"/>
              </a:rPr>
              <a:t>•  Reusable ProductCard props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Wishlist &amp; quantity state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Documented folders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Context reducers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1417320"/>
            <a:ext cx="2194560" cy="4846320"/>
          </a:xfrm>
          <a:prstGeom prst="roundRect">
            <a:avLst/>
          </a:prstGeom>
          <a:solidFill>
            <a:srgbClr val="F6F2EA"/>
          </a:solidFill>
          <a:ln>
            <a:solidFill>
              <a:srgbClr val="C9C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155448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9522F"/>
                </a:solidFill>
                <a:latin typeface="Calibri"/>
              </a:rPr>
              <a:t>A5–A6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011680"/>
            <a:ext cx="20116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181510"/>
                </a:solidFill>
                <a:latin typeface="Calibri"/>
              </a:rPr>
              <a:t>•  Profile core components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Nav list (not button soup)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Flexbox responsive UI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Validated forms +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19" y="1417320"/>
            <a:ext cx="2194560" cy="4846320"/>
          </a:xfrm>
          <a:prstGeom prst="roundRect">
            <a:avLst/>
          </a:prstGeom>
          <a:solidFill>
            <a:srgbClr val="F6F2EA"/>
          </a:solidFill>
          <a:ln>
            <a:solidFill>
              <a:srgbClr val="C9C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70647" y="155448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9522F"/>
                </a:solidFill>
                <a:latin typeface="Calibri"/>
              </a:rPr>
              <a:t>A7–A8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59" y="2011680"/>
            <a:ext cx="20116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181510"/>
                </a:solidFill>
                <a:latin typeface="Calibri"/>
              </a:rPr>
              <a:t>•  Stack + tab navigators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Typed route params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Local JSON FlatList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Public API Discover more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417320"/>
            <a:ext cx="2194560" cy="4846320"/>
          </a:xfrm>
          <a:prstGeom prst="roundRect">
            <a:avLst/>
          </a:prstGeom>
          <a:solidFill>
            <a:srgbClr val="F6F2EA"/>
          </a:solidFill>
          <a:ln>
            <a:solidFill>
              <a:srgbClr val="C9C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02368" y="1554480"/>
            <a:ext cx="1965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A9522F"/>
                </a:solidFill>
                <a:latin typeface="Calibri"/>
              </a:rPr>
              <a:t>A9–A10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2011680"/>
            <a:ext cx="201168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181510"/>
                </a:solidFill>
                <a:latin typeface="Calibri"/>
              </a:rPr>
              <a:t>•  Full storefront pages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Search / filter / sort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Cart persistence</a:t>
            </a:r>
          </a:p>
          <a:p>
            <a:pPr>
              <a:spcBef>
                <a:spcPts val="1200"/>
              </a:spcBef>
            </a:pPr>
            <a:r>
              <a:rPr sz="1200" b="0">
                <a:solidFill>
                  <a:srgbClr val="181510"/>
                </a:solidFill>
                <a:latin typeface="Calibri"/>
              </a:rPr>
              <a:t>•  Checkout → confirmation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Live demo script (~2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Suggested viva walkthrough on Pixel_9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181510"/>
                </a:solidFill>
                <a:latin typeface="Calibri"/>
              </a:rPr>
              <a:t>•  Boot Hello ARCHIVE → Enter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Home hero scroll → Shop the Archive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Filter catalogue → open a piece → wishlist → add to cart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Cart qty → Checkout → place order → confirmation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Profile → Orders / How we build / Discover more</a:t>
            </a:r>
          </a:p>
          <a:p>
            <a:pPr>
              <a:spcBef>
                <a:spcPts val="1200"/>
              </a:spcBef>
            </a:pPr>
            <a:r>
              <a:rPr sz="1700" b="0">
                <a:solidFill>
                  <a:srgbClr val="181510"/>
                </a:solidFill>
                <a:latin typeface="Calibri"/>
              </a:rPr>
              <a:t>•  Mention INR catalogue + AsyncStorage persistence</a:t>
            </a:r>
          </a:p>
        </p:txBody>
      </p:sp>
      <p:pic>
        <p:nvPicPr>
          <p:cNvPr id="6" name="Picture 5" descr="01_h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28016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E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81510"/>
                </a:solidFill>
                <a:latin typeface="Calibri"/>
              </a:rPr>
              <a:t>Repository &amp; run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14400"/>
            <a:ext cx="1097280" cy="54864"/>
          </a:xfrm>
          <a:prstGeom prst="rect">
            <a:avLst/>
          </a:prstGeom>
          <a:solidFill>
            <a:srgbClr val="A952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5C5648"/>
                </a:solidFill>
                <a:latin typeface="Calibri"/>
              </a:rPr>
              <a:t>github.com/tanmays0/ARCHIVE-APP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181510"/>
                </a:solidFill>
                <a:latin typeface="Calibri"/>
              </a:rPr>
              <a:t>•  npm install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Start Pixel_9 AVD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npx expo run:android   (first build is slow)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Day-to-day: adb reverse tcp:8081 + npx expo start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npm run typecheck · npm run lint</a:t>
            </a:r>
          </a:p>
          <a:p>
            <a:pPr>
              <a:spcBef>
                <a:spcPts val="1200"/>
              </a:spcBef>
            </a:pPr>
            <a:r>
              <a:rPr sz="1800" b="0">
                <a:solidFill>
                  <a:srgbClr val="181510"/>
                </a:solidFill>
                <a:latin typeface="Calibri"/>
              </a:rPr>
              <a:t>•  Report + screenshots also in docs/submission/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5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645920"/>
            <a:ext cx="10515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2EEE6"/>
                </a:solidFill>
                <a:latin typeface="Calibri"/>
              </a:rPr>
              <a:t>Thank you</a:t>
            </a:r>
          </a:p>
          <a:p>
            <a:pPr>
              <a:spcBef>
                <a:spcPts val="1600"/>
              </a:spcBef>
            </a:pPr>
            <a:r>
              <a:rPr sz="1800" b="0">
                <a:solidFill>
                  <a:srgbClr val="A9522F"/>
                </a:solidFill>
                <a:latin typeface="Calibri"/>
              </a:rPr>
              <a:t>ARCHIVE — vintage, verified, one of one.</a:t>
            </a:r>
          </a:p>
          <a:p>
            <a:pPr>
              <a:spcBef>
                <a:spcPts val="2000"/>
              </a:spcBef>
            </a:pPr>
            <a:r>
              <a:rPr sz="1600" b="0">
                <a:solidFill>
                  <a:srgbClr val="C9C0B4"/>
                </a:solidFill>
                <a:latin typeface="Calibri"/>
              </a:rPr>
              <a:t>Tanmay Shinde  ·  ADT23SOCB1617  ·  Roll 12 / LY-SMAD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7C7565"/>
                </a:solidFill>
                <a:latin typeface="Calibri"/>
              </a:rPr>
              <a:t>B.Tech Information Technology  ·  Prof. Rohini Bhosale</a:t>
            </a:r>
          </a:p>
          <a:p>
            <a:pPr>
              <a:spcBef>
                <a:spcPts val="800"/>
              </a:spcBef>
            </a:pPr>
            <a:r>
              <a:rPr sz="1400" b="0">
                <a:solidFill>
                  <a:srgbClr val="7C7565"/>
                </a:solidFill>
                <a:latin typeface="Calibri"/>
              </a:rPr>
              <a:t>github.com/tanmays0/ARCHIVE-APP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